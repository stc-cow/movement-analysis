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69680" y="-1005840"/>
            <a:ext cx="3749040" cy="3749040"/>
          </a:xfrm>
          <a:prstGeom prst="ellipse">
            <a:avLst/>
          </a:prstGeom>
          <a:solidFill>
            <a:srgbClr val="A855F7">
              <a:alpha val="22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4023360"/>
            <a:ext cx="2743200" cy="2743200"/>
          </a:xfrm>
          <a:prstGeom prst="ellipse">
            <a:avLst/>
          </a:prstGeom>
          <a:solidFill>
            <a:srgbClr val="22D3EE">
              <a:alpha val="18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29184"/>
            <a:ext cx="12191695" cy="36576"/>
          </a:xfrm>
          <a:prstGeom prst="rect">
            <a:avLst/>
          </a:prstGeom>
          <a:solidFill>
            <a:srgbClr val="22D3EE">
              <a:alpha val="70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86868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Movement Analysis &amp; Prediction Platform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13232" y="1810512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Optimizing telecom field operations through movement intelligence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2395728"/>
            <a:ext cx="1572768" cy="411480"/>
          </a:xfrm>
          <a:prstGeom prst="roundRect">
            <a:avLst>
              <a:gd name="adj" fmla="val 17778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2505456"/>
            <a:ext cx="1426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Movement Intelligence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514600" y="2395728"/>
            <a:ext cx="1572768" cy="411480"/>
          </a:xfrm>
          <a:prstGeom prst="roundRect">
            <a:avLst>
              <a:gd name="adj" fmla="val 17778"/>
            </a:avLst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87752" y="2505456"/>
            <a:ext cx="1426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 Operations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297680" y="2395728"/>
            <a:ext cx="1572768" cy="411480"/>
          </a:xfrm>
          <a:prstGeom prst="roundRect">
            <a:avLst>
              <a:gd name="adj" fmla="val 17778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70832" y="2505456"/>
            <a:ext cx="1426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Forecasting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949440" y="749808"/>
            <a:ext cx="4572000" cy="5074920"/>
          </a:xfrm>
          <a:prstGeom prst="roundRect">
            <a:avLst>
              <a:gd name="adj" fmla="val 1600"/>
            </a:avLst>
          </a:prstGeom>
          <a:solidFill>
            <a:srgbClr val="15213A"/>
          </a:solidFill>
          <a:ln w="12700">
            <a:solidFill>
              <a:srgbClr val="2940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0" y="9144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signal flow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966960" y="1828800"/>
            <a:ext cx="-548640" cy="2651760"/>
          </a:xfrm>
          <a:prstGeom prst="line">
            <a:avLst/>
          </a:prstGeom>
          <a:noFill/>
          <a:ln w="12700">
            <a:solidFill>
              <a:srgbClr val="22D3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966960" y="1828800"/>
            <a:ext cx="548640" cy="2651760"/>
          </a:xfrm>
          <a:prstGeom prst="line">
            <a:avLst/>
          </a:prstGeom>
          <a:noFill/>
          <a:ln w="12700">
            <a:solidFill>
              <a:srgbClr val="22D3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738360" y="2468880"/>
            <a:ext cx="457200" cy="0"/>
          </a:xfrm>
          <a:prstGeom prst="line">
            <a:avLst/>
          </a:prstGeom>
          <a:noFill/>
          <a:ln w="12700">
            <a:solidFill>
              <a:srgbClr val="22D3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619488" y="3017520"/>
            <a:ext cx="694944" cy="0"/>
          </a:xfrm>
          <a:prstGeom prst="line">
            <a:avLst/>
          </a:prstGeom>
          <a:noFill/>
          <a:ln w="12700">
            <a:solidFill>
              <a:srgbClr val="22D3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482328" y="3657600"/>
            <a:ext cx="969264" cy="0"/>
          </a:xfrm>
          <a:prstGeom prst="line">
            <a:avLst/>
          </a:prstGeom>
          <a:noFill/>
          <a:ln w="12700">
            <a:solidFill>
              <a:srgbClr val="22D3E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893808" y="1572768"/>
            <a:ext cx="146304" cy="14630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863840" y="2834640"/>
            <a:ext cx="1417320" cy="822960"/>
          </a:xfrm>
          <a:prstGeom prst="roundRect">
            <a:avLst>
              <a:gd name="adj" fmla="val 8889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83880" y="307238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Core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955280" y="3364992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EDE9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 • optimize • alert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7269480" y="1920240"/>
            <a:ext cx="914400" cy="475488"/>
          </a:xfrm>
          <a:prstGeom prst="roundRect">
            <a:avLst>
              <a:gd name="adj" fmla="val 15385"/>
            </a:avLst>
          </a:prstGeom>
          <a:solidFill>
            <a:srgbClr val="20314F"/>
          </a:solidFill>
          <a:ln w="12700">
            <a:solidFill>
              <a:srgbClr val="33507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324344" y="2002536"/>
            <a:ext cx="310896" cy="31089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24344" y="2070933"/>
            <a:ext cx="310896" cy="1399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671816" y="2066544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0378440" y="2011680"/>
            <a:ext cx="914400" cy="475488"/>
          </a:xfrm>
          <a:prstGeom prst="roundRect">
            <a:avLst>
              <a:gd name="adj" fmla="val 15385"/>
            </a:avLst>
          </a:prstGeom>
          <a:solidFill>
            <a:srgbClr val="20314F"/>
          </a:solidFill>
          <a:ln w="12700">
            <a:solidFill>
              <a:srgbClr val="33507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433304" y="2093976"/>
            <a:ext cx="310896" cy="310896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433304" y="2162373"/>
            <a:ext cx="310896" cy="1399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780776" y="2157984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Alarms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269480" y="4069080"/>
            <a:ext cx="914400" cy="475488"/>
          </a:xfrm>
          <a:prstGeom prst="roundRect">
            <a:avLst>
              <a:gd name="adj" fmla="val 15385"/>
            </a:avLst>
          </a:prstGeom>
          <a:solidFill>
            <a:srgbClr val="20314F"/>
          </a:solidFill>
          <a:ln w="12700">
            <a:solidFill>
              <a:srgbClr val="33507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324344" y="4151376"/>
            <a:ext cx="310896" cy="31089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324344" y="4219773"/>
            <a:ext cx="310896" cy="1399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671816" y="4215384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10378440" y="4069080"/>
            <a:ext cx="914400" cy="475488"/>
          </a:xfrm>
          <a:prstGeom prst="roundRect">
            <a:avLst>
              <a:gd name="adj" fmla="val 15385"/>
            </a:avLst>
          </a:prstGeom>
          <a:solidFill>
            <a:srgbClr val="20314F"/>
          </a:solidFill>
          <a:ln w="12700">
            <a:solidFill>
              <a:srgbClr val="33507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433304" y="4151376"/>
            <a:ext cx="310896" cy="3108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433304" y="4219773"/>
            <a:ext cx="310896" cy="1399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0780776" y="4215384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8183880" y="2395728"/>
            <a:ext cx="411480" cy="438912"/>
          </a:xfrm>
          <a:prstGeom prst="line">
            <a:avLst/>
          </a:prstGeom>
          <a:noFill/>
          <a:ln w="12700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10058400" y="2395728"/>
            <a:ext cx="-91440" cy="438912"/>
          </a:xfrm>
          <a:prstGeom prst="line">
            <a:avLst/>
          </a:prstGeom>
          <a:noFill/>
          <a:ln w="12700">
            <a:solidFill>
              <a:srgbClr val="FB7185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8183880" y="4069080"/>
            <a:ext cx="411480" cy="-411480"/>
          </a:xfrm>
          <a:prstGeom prst="line">
            <a:avLst/>
          </a:prstGeom>
          <a:noFill/>
          <a:ln w="12700">
            <a:solidFill>
              <a:srgbClr val="14B8A6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10058400" y="4069080"/>
            <a:ext cx="-91440" cy="-41148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7333488" y="4800600"/>
            <a:ext cx="3840480" cy="749808"/>
          </a:xfrm>
          <a:prstGeom prst="roundRect">
            <a:avLst>
              <a:gd name="adj" fmla="val 9756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498080" y="5047488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insight: dispatch the right team, to the right site, at the right time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48640" y="6400800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Movement Analysis &amp; Prediction Platform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11475720" y="6199632"/>
            <a:ext cx="411480" cy="4114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1475720" y="6272784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329184"/>
            <a:ext cx="12191695" cy="36576"/>
          </a:xfrm>
          <a:prstGeom prst="rect">
            <a:avLst/>
          </a:prstGeom>
          <a:solidFill>
            <a:srgbClr val="22D3EE">
              <a:alpha val="85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0" y="-1097280"/>
            <a:ext cx="4023360" cy="4023360"/>
          </a:xfrm>
          <a:prstGeom prst="ellipse">
            <a:avLst/>
          </a:prstGeom>
          <a:solidFill>
            <a:srgbClr val="A855F7">
              <a:alpha val="8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-914400" y="4389120"/>
            <a:ext cx="3017520" cy="3017520"/>
          </a:xfrm>
          <a:prstGeom prst="ellipse">
            <a:avLst/>
          </a:prstGeom>
          <a:solidFill>
            <a:srgbClr val="22D3EE">
              <a:alpha val="8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566928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Challenge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48640" y="93268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telecom field teams need movement intelligence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54880" y="1920240"/>
            <a:ext cx="2697480" cy="26974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58384" y="2523744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Reactive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212080" y="3072384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limited visibility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slow response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 planning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389120" y="2267712"/>
            <a:ext cx="297180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4279392"/>
            <a:ext cx="297180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1508760"/>
            <a:ext cx="27432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1508760"/>
            <a:ext cx="2743200" cy="7315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4672" y="1709928"/>
            <a:ext cx="384048" cy="38404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4672" y="1794419"/>
            <a:ext cx="384048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298448" y="170992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Visibility gaps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04672" y="2167128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Movement and asset status is scattered across tools.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8229600" y="1508760"/>
            <a:ext cx="27432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0" y="1508760"/>
            <a:ext cx="27432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394192" y="1709928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394192" y="1794419"/>
            <a:ext cx="384048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887968" y="170992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Dispatch inefficiency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394192" y="2167128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Teams are sent without a clear movement pattern.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40080" y="4114800"/>
            <a:ext cx="27432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0080" y="4114800"/>
            <a:ext cx="2743200" cy="73152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04672" y="4315968"/>
            <a:ext cx="384048" cy="384048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04672" y="4400459"/>
            <a:ext cx="384048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298448" y="431596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Slow incident response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04672" y="4773168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 teams reach sites later than needed.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8229600" y="4114800"/>
            <a:ext cx="27432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229600" y="4114800"/>
            <a:ext cx="274320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394192" y="4315968"/>
            <a:ext cx="384048" cy="38404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394192" y="4400459"/>
            <a:ext cx="384048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887968" y="431596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prediction layer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394192" y="4773168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There is no forward view of future movement demand.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337560" y="2926080"/>
            <a:ext cx="1234440" cy="-457200"/>
          </a:xfrm>
          <a:prstGeom prst="line">
            <a:avLst/>
          </a:prstGeom>
          <a:noFill/>
          <a:ln w="12700">
            <a:solidFill>
              <a:srgbClr val="FB718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812280" y="2468880"/>
            <a:ext cx="1097280" cy="457200"/>
          </a:xfrm>
          <a:prstGeom prst="line">
            <a:avLst/>
          </a:prstGeom>
          <a:noFill/>
          <a:ln w="12700">
            <a:solidFill>
              <a:srgbClr val="FB718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337560" y="4069080"/>
            <a:ext cx="1234440" cy="45720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812280" y="4526280"/>
            <a:ext cx="1097280" cy="-45720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48640" y="6400800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Movement Analysis &amp; Prediction Platform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11475720" y="6199632"/>
            <a:ext cx="411480" cy="4114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1475720" y="6272784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329184"/>
            <a:ext cx="12191695" cy="36576"/>
          </a:xfrm>
          <a:prstGeom prst="rect">
            <a:avLst/>
          </a:prstGeom>
          <a:solidFill>
            <a:srgbClr val="22D3EE">
              <a:alpha val="85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0" y="-1097280"/>
            <a:ext cx="4023360" cy="4023360"/>
          </a:xfrm>
          <a:prstGeom prst="ellipse">
            <a:avLst/>
          </a:prstGeom>
          <a:solidFill>
            <a:srgbClr val="A855F7">
              <a:alpha val="8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-914400" y="4389120"/>
            <a:ext cx="3017520" cy="3017520"/>
          </a:xfrm>
          <a:prstGeom prst="ellipse">
            <a:avLst/>
          </a:prstGeom>
          <a:solidFill>
            <a:srgbClr val="22D3EE">
              <a:alpha val="8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566928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Overview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48640" y="93268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site data to operational insight in one connected flow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31520" y="2194560"/>
            <a:ext cx="20116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2194560"/>
            <a:ext cx="2011680" cy="7315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8680" y="2395728"/>
            <a:ext cx="347472" cy="34747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2472172"/>
            <a:ext cx="347472" cy="156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261872" y="2377440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Data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96112" y="2907792"/>
            <a:ext cx="16824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GPS + alarms + field logs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3200400" y="2194560"/>
            <a:ext cx="20116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0" y="2194560"/>
            <a:ext cx="2011680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37560" y="2395728"/>
            <a:ext cx="347472" cy="34747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37560" y="2472172"/>
            <a:ext cx="347472" cy="156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30752" y="2377440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Movement History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64992" y="2907792"/>
            <a:ext cx="16824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 changes over time</a:t>
            </a:r>
            <a:endParaRPr lang="en-US" sz="920" dirty="0"/>
          </a:p>
        </p:txBody>
      </p:sp>
      <p:sp>
        <p:nvSpPr>
          <p:cNvPr id="21" name="Shape 19"/>
          <p:cNvSpPr/>
          <p:nvPr/>
        </p:nvSpPr>
        <p:spPr>
          <a:xfrm>
            <a:off x="5669280" y="2194560"/>
            <a:ext cx="20116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669280" y="2194560"/>
            <a:ext cx="201168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806440" y="2395728"/>
            <a:ext cx="347472" cy="34747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06440" y="2472172"/>
            <a:ext cx="347472" cy="156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199632" y="2377440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Analysis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833872" y="2907792"/>
            <a:ext cx="16824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Patterns, frequency, risk</a:t>
            </a:r>
            <a:endParaRPr lang="en-US" sz="920" dirty="0"/>
          </a:p>
        </p:txBody>
      </p:sp>
      <p:sp>
        <p:nvSpPr>
          <p:cNvPr id="27" name="Shape 25"/>
          <p:cNvSpPr/>
          <p:nvPr/>
        </p:nvSpPr>
        <p:spPr>
          <a:xfrm>
            <a:off x="8138160" y="2194560"/>
            <a:ext cx="20116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38160" y="2194560"/>
            <a:ext cx="201168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275320" y="2395728"/>
            <a:ext cx="347472" cy="34747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75320" y="2472172"/>
            <a:ext cx="347472" cy="156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668512" y="2377440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Insights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302752" y="2907792"/>
            <a:ext cx="16824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dispatch and planning</a:t>
            </a:r>
            <a:endParaRPr lang="en-US" sz="920" dirty="0"/>
          </a:p>
        </p:txBody>
      </p:sp>
      <p:sp>
        <p:nvSpPr>
          <p:cNvPr id="33" name="Shape 31"/>
          <p:cNvSpPr/>
          <p:nvPr/>
        </p:nvSpPr>
        <p:spPr>
          <a:xfrm>
            <a:off x="2697480" y="2852928"/>
            <a:ext cx="429768" cy="0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5166360" y="2852928"/>
            <a:ext cx="429768" cy="0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7635240" y="2852928"/>
            <a:ext cx="429768" cy="0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1828800" y="4160520"/>
            <a:ext cx="8549640" cy="1005840"/>
          </a:xfrm>
          <a:prstGeom prst="roundRect">
            <a:avLst>
              <a:gd name="adj" fmla="val 7273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057400" y="4407408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2743200" y="4370832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 movement demand, reduce guesswork, and turn field activity into a measurable planning signal.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48640" y="6400800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Movement Analysis &amp; Prediction Platform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11475720" y="6199632"/>
            <a:ext cx="411480" cy="4114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1475720" y="6272784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329184"/>
            <a:ext cx="12191695" cy="36576"/>
          </a:xfrm>
          <a:prstGeom prst="rect">
            <a:avLst/>
          </a:prstGeom>
          <a:solidFill>
            <a:srgbClr val="22D3EE">
              <a:alpha val="85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0" y="-1097280"/>
            <a:ext cx="4023360" cy="4023360"/>
          </a:xfrm>
          <a:prstGeom prst="ellipse">
            <a:avLst/>
          </a:prstGeom>
          <a:solidFill>
            <a:srgbClr val="A855F7">
              <a:alpha val="8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-914400" y="4389120"/>
            <a:ext cx="3017520" cy="3017520"/>
          </a:xfrm>
          <a:prstGeom prst="ellipse">
            <a:avLst/>
          </a:prstGeom>
          <a:solidFill>
            <a:srgbClr val="22D3EE">
              <a:alpha val="8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566928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Capabilities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48640" y="93268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analysis layers that turn movement data into action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40080" y="1463040"/>
            <a:ext cx="5349240" cy="1810512"/>
          </a:xfrm>
          <a:prstGeom prst="roundRect">
            <a:avLst>
              <a:gd name="adj" fmla="val 404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1463040"/>
            <a:ext cx="5349240" cy="7315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4672" y="1627632"/>
            <a:ext cx="347472" cy="34747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" y="1704076"/>
            <a:ext cx="347472" cy="156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243584" y="1645920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Historical movement analysis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914400" y="2497618"/>
            <a:ext cx="298094" cy="282158"/>
          </a:xfrm>
          <a:prstGeom prst="roundRect">
            <a:avLst>
              <a:gd name="adj" fmla="val 9722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85646" y="2309513"/>
            <a:ext cx="298094" cy="470263"/>
          </a:xfrm>
          <a:prstGeom prst="roundRect">
            <a:avLst>
              <a:gd name="adj" fmla="val 9202"/>
            </a:avLst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56893" y="2403566"/>
            <a:ext cx="298094" cy="376210"/>
          </a:xfrm>
          <a:prstGeom prst="roundRect">
            <a:avLst>
              <a:gd name="adj" fmla="val 9202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028139" y="2121408"/>
            <a:ext cx="298094" cy="658368"/>
          </a:xfrm>
          <a:prstGeom prst="roundRect">
            <a:avLst>
              <a:gd name="adj" fmla="val 9202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399386" y="2215461"/>
            <a:ext cx="298094" cy="564315"/>
          </a:xfrm>
          <a:prstGeom prst="roundRect">
            <a:avLst>
              <a:gd name="adj" fmla="val 9202"/>
            </a:avLst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0120" y="2880360"/>
            <a:ext cx="1645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frequency over time</a:t>
            </a:r>
            <a:endParaRPr lang="en-US" sz="830" dirty="0"/>
          </a:p>
        </p:txBody>
      </p:sp>
      <p:sp>
        <p:nvSpPr>
          <p:cNvPr id="20" name="Text 18"/>
          <p:cNvSpPr/>
          <p:nvPr/>
        </p:nvSpPr>
        <p:spPr>
          <a:xfrm>
            <a:off x="2907792" y="2212848"/>
            <a:ext cx="2651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what has already happened.</a:t>
            </a:r>
            <a:endParaRPr lang="en-US" sz="940" dirty="0"/>
          </a:p>
        </p:txBody>
      </p:sp>
      <p:sp>
        <p:nvSpPr>
          <p:cNvPr id="21" name="Shape 19"/>
          <p:cNvSpPr/>
          <p:nvPr/>
        </p:nvSpPr>
        <p:spPr>
          <a:xfrm>
            <a:off x="6080760" y="1463040"/>
            <a:ext cx="5349240" cy="1810512"/>
          </a:xfrm>
          <a:prstGeom prst="roundRect">
            <a:avLst>
              <a:gd name="adj" fmla="val 404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80760" y="1463040"/>
            <a:ext cx="534924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45352" y="1627632"/>
            <a:ext cx="347472" cy="34747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45352" y="1704076"/>
            <a:ext cx="347472" cy="156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684264" y="1645920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AI-based movement prediction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355080" y="2788920"/>
            <a:ext cx="502920" cy="-128016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858000" y="2660904"/>
            <a:ext cx="502920" cy="128016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360920" y="2788920"/>
            <a:ext cx="502920" cy="-384048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863840" y="2404872"/>
            <a:ext cx="502920" cy="-256032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23076" y="2756916"/>
            <a:ext cx="64008" cy="6400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825996" y="2628900"/>
            <a:ext cx="64008" cy="6400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328916" y="2756916"/>
            <a:ext cx="64008" cy="6400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831836" y="2372868"/>
            <a:ext cx="64008" cy="6400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334756" y="2116836"/>
            <a:ext cx="64008" cy="6400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55080" y="2880360"/>
            <a:ext cx="1645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 trend</a:t>
            </a:r>
            <a:endParaRPr lang="en-US" sz="830" dirty="0"/>
          </a:p>
        </p:txBody>
      </p:sp>
      <p:sp>
        <p:nvSpPr>
          <p:cNvPr id="36" name="Text 34"/>
          <p:cNvSpPr/>
          <p:nvPr/>
        </p:nvSpPr>
        <p:spPr>
          <a:xfrm>
            <a:off x="8348472" y="2212848"/>
            <a:ext cx="2651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Estimate where movement pressure will rise.</a:t>
            </a:r>
            <a:endParaRPr lang="en-US" sz="940" dirty="0"/>
          </a:p>
        </p:txBody>
      </p:sp>
      <p:sp>
        <p:nvSpPr>
          <p:cNvPr id="37" name="Shape 35"/>
          <p:cNvSpPr/>
          <p:nvPr/>
        </p:nvSpPr>
        <p:spPr>
          <a:xfrm>
            <a:off x="640080" y="3657600"/>
            <a:ext cx="5349240" cy="1810512"/>
          </a:xfrm>
          <a:prstGeom prst="roundRect">
            <a:avLst>
              <a:gd name="adj" fmla="val 404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40080" y="3657600"/>
            <a:ext cx="5349240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04672" y="3822192"/>
            <a:ext cx="347472" cy="34747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04672" y="3898636"/>
            <a:ext cx="347472" cy="156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243584" y="3840480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Technician deployment optimization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1005840" y="5010912"/>
            <a:ext cx="914400" cy="-457200"/>
          </a:xfrm>
          <a:prstGeom prst="line">
            <a:avLst/>
          </a:prstGeom>
          <a:noFill/>
          <a:ln w="12700">
            <a:solidFill>
              <a:srgbClr val="14B8A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920240" y="4553712"/>
            <a:ext cx="731520" cy="246888"/>
          </a:xfrm>
          <a:prstGeom prst="line">
            <a:avLst/>
          </a:prstGeom>
          <a:noFill/>
          <a:ln w="12700">
            <a:solidFill>
              <a:srgbClr val="14B8A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651760" y="4800600"/>
            <a:ext cx="731520" cy="-338328"/>
          </a:xfrm>
          <a:prstGeom prst="line">
            <a:avLst/>
          </a:prstGeom>
          <a:noFill/>
          <a:ln w="12700">
            <a:solidFill>
              <a:srgbClr val="14B8A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69264" y="4965192"/>
            <a:ext cx="109728" cy="10972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874520" y="4507992"/>
            <a:ext cx="109728" cy="1097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624328" y="4754880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346704" y="4416552"/>
            <a:ext cx="109728" cy="109728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14400" y="5074920"/>
            <a:ext cx="1645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 balance</a:t>
            </a:r>
            <a:endParaRPr lang="en-US" sz="830" dirty="0"/>
          </a:p>
        </p:txBody>
      </p:sp>
      <p:sp>
        <p:nvSpPr>
          <p:cNvPr id="50" name="Text 48"/>
          <p:cNvSpPr/>
          <p:nvPr/>
        </p:nvSpPr>
        <p:spPr>
          <a:xfrm>
            <a:off x="2907792" y="4407408"/>
            <a:ext cx="2651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 the right resources to the right site.</a:t>
            </a:r>
            <a:endParaRPr lang="en-US" sz="940" dirty="0"/>
          </a:p>
        </p:txBody>
      </p:sp>
      <p:sp>
        <p:nvSpPr>
          <p:cNvPr id="51" name="Shape 49"/>
          <p:cNvSpPr/>
          <p:nvPr/>
        </p:nvSpPr>
        <p:spPr>
          <a:xfrm>
            <a:off x="6080760" y="3657600"/>
            <a:ext cx="5349240" cy="1810512"/>
          </a:xfrm>
          <a:prstGeom prst="roundRect">
            <a:avLst>
              <a:gd name="adj" fmla="val 404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080760" y="3657600"/>
            <a:ext cx="534924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245352" y="3822192"/>
            <a:ext cx="347472" cy="3474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245352" y="3898636"/>
            <a:ext cx="347472" cy="156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6684264" y="3840480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activity monitoring</a:t>
            </a:r>
            <a:endParaRPr lang="en-US" sz="1150" dirty="0"/>
          </a:p>
        </p:txBody>
      </p:sp>
      <p:sp>
        <p:nvSpPr>
          <p:cNvPr id="56" name="Shape 54"/>
          <p:cNvSpPr/>
          <p:nvPr/>
        </p:nvSpPr>
        <p:spPr>
          <a:xfrm>
            <a:off x="8001000" y="4270248"/>
            <a:ext cx="1097280" cy="1097280"/>
          </a:xfrm>
          <a:prstGeom prst="ellipse">
            <a:avLst/>
          </a:prstGeom>
          <a:solidFill>
            <a:srgbClr val="EFF6FF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247888" y="4517136"/>
            <a:ext cx="603504" cy="603504"/>
          </a:xfrm>
          <a:prstGeom prst="ellipse">
            <a:avLst/>
          </a:prstGeom>
          <a:solidFill>
            <a:srgbClr val="DBEAF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8421624" y="4690872"/>
            <a:ext cx="256032" cy="25603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863840" y="4818888"/>
            <a:ext cx="1435608" cy="0"/>
          </a:xfrm>
          <a:prstGeom prst="line">
            <a:avLst/>
          </a:prstGeom>
          <a:noFill/>
          <a:ln w="12700">
            <a:solidFill>
              <a:srgbClr val="22D3EE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586216" y="4069080"/>
            <a:ext cx="0" cy="1417320"/>
          </a:xfrm>
          <a:prstGeom prst="line">
            <a:avLst/>
          </a:prstGeom>
          <a:noFill/>
          <a:ln w="12700">
            <a:solidFill>
              <a:srgbClr val="22D3EE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355080" y="5074920"/>
            <a:ext cx="1645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activity pulse</a:t>
            </a:r>
            <a:endParaRPr lang="en-US" sz="830" dirty="0"/>
          </a:p>
        </p:txBody>
      </p:sp>
      <p:sp>
        <p:nvSpPr>
          <p:cNvPr id="62" name="Text 60"/>
          <p:cNvSpPr/>
          <p:nvPr/>
        </p:nvSpPr>
        <p:spPr>
          <a:xfrm>
            <a:off x="8348472" y="4407408"/>
            <a:ext cx="2651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activity signals and respond earlier.</a:t>
            </a:r>
            <a:endParaRPr lang="en-US" sz="940" dirty="0"/>
          </a:p>
        </p:txBody>
      </p:sp>
      <p:sp>
        <p:nvSpPr>
          <p:cNvPr id="63" name="Text 61"/>
          <p:cNvSpPr/>
          <p:nvPr/>
        </p:nvSpPr>
        <p:spPr>
          <a:xfrm>
            <a:off x="548640" y="6400800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Movement Analysis &amp; Prediction Platform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11475720" y="6199632"/>
            <a:ext cx="411480" cy="4114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1475720" y="6272784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329184"/>
            <a:ext cx="12191695" cy="36576"/>
          </a:xfrm>
          <a:prstGeom prst="rect">
            <a:avLst/>
          </a:prstGeom>
          <a:solidFill>
            <a:srgbClr val="22D3EE">
              <a:alpha val="85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0" y="-1097280"/>
            <a:ext cx="4023360" cy="4023360"/>
          </a:xfrm>
          <a:prstGeom prst="ellipse">
            <a:avLst/>
          </a:prstGeom>
          <a:solidFill>
            <a:srgbClr val="A855F7">
              <a:alpha val="8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-914400" y="4389120"/>
            <a:ext cx="3017520" cy="3017520"/>
          </a:xfrm>
          <a:prstGeom prst="ellipse">
            <a:avLst/>
          </a:prstGeom>
          <a:solidFill>
            <a:srgbClr val="22D3EE">
              <a:alpha val="8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566928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Sources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48640" y="93268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operational inputs are combined into one analysis layer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85800" y="1645920"/>
            <a:ext cx="23317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1645920"/>
            <a:ext cx="2331720" cy="7315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32104" y="1828800"/>
            <a:ext cx="365760" cy="36576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2104" y="1909267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289304" y="1810512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GPS movement logs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50392" y="2340864"/>
            <a:ext cx="1993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 tracks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85800" y="3840480"/>
            <a:ext cx="23317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" y="3840480"/>
            <a:ext cx="2331720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2104" y="4023360"/>
            <a:ext cx="365760" cy="36576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2104" y="4103827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289304" y="4005072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Maintenance visit records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50392" y="4535424"/>
            <a:ext cx="1993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activity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9144000" y="1645920"/>
            <a:ext cx="23317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44000" y="1645920"/>
            <a:ext cx="2331720" cy="73152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290304" y="1828800"/>
            <a:ext cx="365760" cy="365760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290304" y="1909267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747504" y="1810512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alarm history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9308592" y="2340864"/>
            <a:ext cx="1993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fault + outage signals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9144000" y="3840480"/>
            <a:ext cx="23317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144000" y="3840480"/>
            <a:ext cx="233172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290304" y="4023360"/>
            <a:ext cx="365760" cy="3657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290304" y="4103827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747504" y="4005072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 operation reports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9308592" y="4535424"/>
            <a:ext cx="1993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observations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160520" y="2148840"/>
            <a:ext cx="3840480" cy="2011680"/>
          </a:xfrm>
          <a:prstGeom prst="roundRect">
            <a:avLst>
              <a:gd name="adj" fmla="val 3636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160520" y="2148840"/>
            <a:ext cx="384048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83480" y="2487168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data core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074920" y="2761488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• align • predict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632704" y="3182112"/>
            <a:ext cx="685800" cy="6858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632704" y="3332988"/>
            <a:ext cx="68580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892040" y="4005072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Movement intelligence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3017520" y="2331720"/>
            <a:ext cx="1143000" cy="411480"/>
          </a:xfrm>
          <a:prstGeom prst="line">
            <a:avLst/>
          </a:prstGeom>
          <a:noFill/>
          <a:ln w="12700">
            <a:solidFill>
              <a:srgbClr val="3B82F6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3017520" y="4526280"/>
            <a:ext cx="1143000" cy="-777240"/>
          </a:xfrm>
          <a:prstGeom prst="line">
            <a:avLst/>
          </a:prstGeom>
          <a:noFill/>
          <a:ln w="12700">
            <a:solidFill>
              <a:srgbClr val="14B8A6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9144000" y="2331720"/>
            <a:ext cx="-1143000" cy="411480"/>
          </a:xfrm>
          <a:prstGeom prst="line">
            <a:avLst/>
          </a:prstGeom>
          <a:noFill/>
          <a:ln w="12700">
            <a:solidFill>
              <a:srgbClr val="FB7185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9144000" y="4526280"/>
            <a:ext cx="-1143000" cy="-77724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44" name="Text 42"/>
          <p:cNvSpPr/>
          <p:nvPr/>
        </p:nvSpPr>
        <p:spPr>
          <a:xfrm>
            <a:off x="3200400" y="4828032"/>
            <a:ext cx="5760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inputs become one operational picture for managers and field teams.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48640" y="6400800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Movement Analysis &amp; Prediction Platform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11475720" y="6199632"/>
            <a:ext cx="411480" cy="4114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1475720" y="6272784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329184"/>
            <a:ext cx="12191695" cy="36576"/>
          </a:xfrm>
          <a:prstGeom prst="rect">
            <a:avLst/>
          </a:prstGeom>
          <a:solidFill>
            <a:srgbClr val="22D3EE">
              <a:alpha val="85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0" y="-1097280"/>
            <a:ext cx="4023360" cy="4023360"/>
          </a:xfrm>
          <a:prstGeom prst="ellipse">
            <a:avLst/>
          </a:prstGeom>
          <a:solidFill>
            <a:srgbClr val="A855F7">
              <a:alpha val="8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-914400" y="4389120"/>
            <a:ext cx="3017520" cy="3017520"/>
          </a:xfrm>
          <a:prstGeom prst="ellipse">
            <a:avLst/>
          </a:prstGeom>
          <a:solidFill>
            <a:srgbClr val="22D3EE">
              <a:alpha val="8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566928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Workflow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48640" y="93268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simple loop from data capture to better decisions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85800" y="1920240"/>
            <a:ext cx="201168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1920240"/>
            <a:ext cx="2011680" cy="7315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472184" y="2084832"/>
            <a:ext cx="420624" cy="420624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72184" y="2177369"/>
            <a:ext cx="420624" cy="18928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161288" y="2596896"/>
            <a:ext cx="1060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2960" y="2999232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movement + alarm data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3154680" y="1920240"/>
            <a:ext cx="201168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154680" y="1920240"/>
            <a:ext cx="2011680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941064" y="2084832"/>
            <a:ext cx="420624" cy="42062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941064" y="2177369"/>
            <a:ext cx="420624" cy="18928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30168" y="2596896"/>
            <a:ext cx="1060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291840" y="2999232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patterns and gaps</a:t>
            </a:r>
            <a:endParaRPr lang="en-US" sz="920" dirty="0"/>
          </a:p>
        </p:txBody>
      </p:sp>
      <p:sp>
        <p:nvSpPr>
          <p:cNvPr id="21" name="Shape 19"/>
          <p:cNvSpPr/>
          <p:nvPr/>
        </p:nvSpPr>
        <p:spPr>
          <a:xfrm>
            <a:off x="5623560" y="1920240"/>
            <a:ext cx="201168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623560" y="1920240"/>
            <a:ext cx="201168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09944" y="2084832"/>
            <a:ext cx="420624" cy="42062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9944" y="2177369"/>
            <a:ext cx="420624" cy="18928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099048" y="2596896"/>
            <a:ext cx="1060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760720" y="2999232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 deployment needs</a:t>
            </a:r>
            <a:endParaRPr lang="en-US" sz="920" dirty="0"/>
          </a:p>
        </p:txBody>
      </p:sp>
      <p:sp>
        <p:nvSpPr>
          <p:cNvPr id="27" name="Shape 25"/>
          <p:cNvSpPr/>
          <p:nvPr/>
        </p:nvSpPr>
        <p:spPr>
          <a:xfrm>
            <a:off x="8092440" y="1920240"/>
            <a:ext cx="201168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092440" y="1920240"/>
            <a:ext cx="201168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878824" y="2084832"/>
            <a:ext cx="420624" cy="42062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878824" y="2177369"/>
            <a:ext cx="420624" cy="18928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567928" y="2596896"/>
            <a:ext cx="1060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229600" y="2999232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faster and with confidence</a:t>
            </a:r>
            <a:endParaRPr lang="en-US" sz="920" dirty="0"/>
          </a:p>
        </p:txBody>
      </p:sp>
      <p:sp>
        <p:nvSpPr>
          <p:cNvPr id="33" name="Shape 31"/>
          <p:cNvSpPr/>
          <p:nvPr/>
        </p:nvSpPr>
        <p:spPr>
          <a:xfrm>
            <a:off x="2697480" y="2788920"/>
            <a:ext cx="365760" cy="0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5166360" y="2788920"/>
            <a:ext cx="365760" cy="0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7635240" y="2788920"/>
            <a:ext cx="365760" cy="0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10149840" y="3794760"/>
            <a:ext cx="0" cy="1051560"/>
          </a:xfrm>
          <a:prstGeom prst="line">
            <a:avLst/>
          </a:prstGeom>
          <a:noFill/>
          <a:ln w="12700">
            <a:solidFill>
              <a:srgbClr val="22D3E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149840" y="4846320"/>
            <a:ext cx="-8458200" cy="0"/>
          </a:xfrm>
          <a:prstGeom prst="line">
            <a:avLst/>
          </a:prstGeom>
          <a:noFill/>
          <a:ln w="12700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38" name="Text 36"/>
          <p:cNvSpPr/>
          <p:nvPr/>
        </p:nvSpPr>
        <p:spPr>
          <a:xfrm>
            <a:off x="4480560" y="5010912"/>
            <a:ext cx="2834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learning loop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48640" y="6400800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Movement Analysis &amp; Prediction Platform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11475720" y="6199632"/>
            <a:ext cx="411480" cy="4114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1475720" y="6272784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329184"/>
            <a:ext cx="12191695" cy="36576"/>
          </a:xfrm>
          <a:prstGeom prst="rect">
            <a:avLst/>
          </a:prstGeom>
          <a:solidFill>
            <a:srgbClr val="22D3EE">
              <a:alpha val="85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0" y="-1097280"/>
            <a:ext cx="4023360" cy="4023360"/>
          </a:xfrm>
          <a:prstGeom prst="ellipse">
            <a:avLst/>
          </a:prstGeom>
          <a:solidFill>
            <a:srgbClr val="A855F7">
              <a:alpha val="8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-914400" y="4389120"/>
            <a:ext cx="3017520" cy="3017520"/>
          </a:xfrm>
          <a:prstGeom prst="ellipse">
            <a:avLst/>
          </a:prstGeom>
          <a:solidFill>
            <a:srgbClr val="22D3EE">
              <a:alpha val="8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566928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Benefits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48640" y="93268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telecom teams gain from movement intelligence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31520" y="1737360"/>
            <a:ext cx="534924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1737360"/>
            <a:ext cx="5349240" cy="7315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1956816"/>
            <a:ext cx="457200" cy="45720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2057400"/>
            <a:ext cx="4572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499616" y="194767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 incident response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160520" y="2057400"/>
            <a:ext cx="1536192" cy="822960"/>
          </a:xfrm>
          <a:prstGeom prst="roundRect">
            <a:avLst>
              <a:gd name="adj" fmla="val 8889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15968" y="2304288"/>
            <a:ext cx="1207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response time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499616" y="245059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teams arrive earlier</a:t>
            </a:r>
            <a:endParaRPr lang="en-US" sz="930" dirty="0"/>
          </a:p>
        </p:txBody>
      </p:sp>
      <p:sp>
        <p:nvSpPr>
          <p:cNvPr id="17" name="Shape 15"/>
          <p:cNvSpPr/>
          <p:nvPr/>
        </p:nvSpPr>
        <p:spPr>
          <a:xfrm>
            <a:off x="1051560" y="3035808"/>
            <a:ext cx="1005840" cy="-246888"/>
          </a:xfrm>
          <a:prstGeom prst="line">
            <a:avLst/>
          </a:prstGeom>
          <a:noFill/>
          <a:ln w="12700">
            <a:solidFill>
              <a:srgbClr val="3B82F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057400" y="2788920"/>
            <a:ext cx="594360" cy="118872"/>
          </a:xfrm>
          <a:prstGeom prst="line">
            <a:avLst/>
          </a:prstGeom>
          <a:noFill/>
          <a:ln w="12700">
            <a:solidFill>
              <a:srgbClr val="3B82F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651760" y="2907792"/>
            <a:ext cx="658368" cy="-237744"/>
          </a:xfrm>
          <a:prstGeom prst="line">
            <a:avLst/>
          </a:prstGeom>
          <a:noFill/>
          <a:ln w="12700">
            <a:solidFill>
              <a:srgbClr val="3B82F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10128" y="2670048"/>
            <a:ext cx="484632" cy="27432"/>
          </a:xfrm>
          <a:prstGeom prst="line">
            <a:avLst/>
          </a:prstGeom>
          <a:noFill/>
          <a:ln w="12700">
            <a:solidFill>
              <a:srgbClr val="3B82F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89320" y="1737360"/>
            <a:ext cx="534924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89320" y="1737360"/>
            <a:ext cx="5349240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72200" y="1956816"/>
            <a:ext cx="457200" cy="45720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72200" y="2057400"/>
            <a:ext cx="4572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757416" y="194767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Optimized technician routes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9418320" y="2057400"/>
            <a:ext cx="1536192" cy="822960"/>
          </a:xfrm>
          <a:prstGeom prst="roundRect">
            <a:avLst>
              <a:gd name="adj" fmla="val 8889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573768" y="2304288"/>
            <a:ext cx="1207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travel waste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757416" y="245059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 driving, more site time</a:t>
            </a:r>
            <a:endParaRPr lang="en-US" sz="930" dirty="0"/>
          </a:p>
        </p:txBody>
      </p:sp>
      <p:sp>
        <p:nvSpPr>
          <p:cNvPr id="29" name="Shape 27"/>
          <p:cNvSpPr/>
          <p:nvPr/>
        </p:nvSpPr>
        <p:spPr>
          <a:xfrm>
            <a:off x="6309360" y="3035808"/>
            <a:ext cx="1005840" cy="-246888"/>
          </a:xfrm>
          <a:prstGeom prst="line">
            <a:avLst/>
          </a:prstGeom>
          <a:noFill/>
          <a:ln w="12700">
            <a:solidFill>
              <a:srgbClr val="14B8A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315200" y="2788920"/>
            <a:ext cx="594360" cy="118872"/>
          </a:xfrm>
          <a:prstGeom prst="line">
            <a:avLst/>
          </a:prstGeom>
          <a:noFill/>
          <a:ln w="12700">
            <a:solidFill>
              <a:srgbClr val="14B8A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909560" y="2907792"/>
            <a:ext cx="658368" cy="-237744"/>
          </a:xfrm>
          <a:prstGeom prst="line">
            <a:avLst/>
          </a:prstGeom>
          <a:noFill/>
          <a:ln w="12700">
            <a:solidFill>
              <a:srgbClr val="14B8A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567928" y="2670048"/>
            <a:ext cx="484632" cy="27432"/>
          </a:xfrm>
          <a:prstGeom prst="line">
            <a:avLst/>
          </a:prstGeom>
          <a:noFill/>
          <a:ln w="12700">
            <a:solidFill>
              <a:srgbClr val="14B8A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31520" y="3703320"/>
            <a:ext cx="534924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31520" y="3703320"/>
            <a:ext cx="534924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14400" y="3922776"/>
            <a:ext cx="457200" cy="4572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14400" y="4023360"/>
            <a:ext cx="4572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499616" y="391363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Reduced operational costs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4160520" y="4023360"/>
            <a:ext cx="1536192" cy="822960"/>
          </a:xfrm>
          <a:prstGeom prst="roundRect">
            <a:avLst>
              <a:gd name="adj" fmla="val 8889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315968" y="4270248"/>
            <a:ext cx="1207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dispatch overhead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499616" y="441655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waste across dispatch</a:t>
            </a:r>
            <a:endParaRPr lang="en-US" sz="930" dirty="0"/>
          </a:p>
        </p:txBody>
      </p:sp>
      <p:sp>
        <p:nvSpPr>
          <p:cNvPr id="41" name="Shape 39"/>
          <p:cNvSpPr/>
          <p:nvPr/>
        </p:nvSpPr>
        <p:spPr>
          <a:xfrm>
            <a:off x="1051560" y="5001768"/>
            <a:ext cx="1005840" cy="-246888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057400" y="4754880"/>
            <a:ext cx="594360" cy="118872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651760" y="4873752"/>
            <a:ext cx="658368" cy="-237744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310128" y="4636008"/>
            <a:ext cx="484632" cy="27432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989320" y="3703320"/>
            <a:ext cx="534924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989320" y="3703320"/>
            <a:ext cx="534924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172200" y="3922776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172200" y="4023360"/>
            <a:ext cx="4572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757416" y="391363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Improved resource planning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9418320" y="4023360"/>
            <a:ext cx="1536192" cy="822960"/>
          </a:xfrm>
          <a:prstGeom prst="roundRect">
            <a:avLst>
              <a:gd name="adj" fmla="val 8889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573768" y="4270248"/>
            <a:ext cx="1207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 forecast accuracy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6757416" y="441655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coverage planning</a:t>
            </a:r>
            <a:endParaRPr lang="en-US" sz="930" dirty="0"/>
          </a:p>
        </p:txBody>
      </p:sp>
      <p:sp>
        <p:nvSpPr>
          <p:cNvPr id="53" name="Shape 51"/>
          <p:cNvSpPr/>
          <p:nvPr/>
        </p:nvSpPr>
        <p:spPr>
          <a:xfrm>
            <a:off x="6309360" y="5001768"/>
            <a:ext cx="1005840" cy="-246888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315200" y="4754880"/>
            <a:ext cx="594360" cy="118872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909560" y="4873752"/>
            <a:ext cx="658368" cy="-237744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567928" y="4636008"/>
            <a:ext cx="484632" cy="27432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48640" y="6400800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Movement Analysis &amp; Prediction Platform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11475720" y="6199632"/>
            <a:ext cx="411480" cy="4114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1475720" y="6272784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329184"/>
            <a:ext cx="12191695" cy="36576"/>
          </a:xfrm>
          <a:prstGeom prst="rect">
            <a:avLst/>
          </a:prstGeom>
          <a:solidFill>
            <a:srgbClr val="22D3EE">
              <a:alpha val="85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0" y="-1097280"/>
            <a:ext cx="4023360" cy="4023360"/>
          </a:xfrm>
          <a:prstGeom prst="ellipse">
            <a:avLst/>
          </a:prstGeom>
          <a:solidFill>
            <a:srgbClr val="A855F7">
              <a:alpha val="8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-914400" y="4389120"/>
            <a:ext cx="3017520" cy="3017520"/>
          </a:xfrm>
          <a:prstGeom prst="ellipse">
            <a:avLst/>
          </a:prstGeom>
          <a:solidFill>
            <a:srgbClr val="22D3EE">
              <a:alpha val="8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566928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Potential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48640" y="93268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 platform can grow next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914400" y="4389120"/>
            <a:ext cx="10058400" cy="-2560320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4224528"/>
            <a:ext cx="164592" cy="16459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3108960"/>
            <a:ext cx="164592" cy="16459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46720" y="2331720"/>
            <a:ext cx="164592" cy="1645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972800" y="1783080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4434840"/>
            <a:ext cx="30175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4434840"/>
            <a:ext cx="3017520" cy="7315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60704" y="4608576"/>
            <a:ext cx="347472" cy="34747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60704" y="4685020"/>
            <a:ext cx="347472" cy="156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481328" y="459943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Predictive dispatch automation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078992" y="5001768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auto-assign teams when demand rises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160520" y="3246120"/>
            <a:ext cx="30175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60520" y="3246120"/>
            <a:ext cx="3017520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06824" y="3419856"/>
            <a:ext cx="347472" cy="34747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06824" y="3496300"/>
            <a:ext cx="347472" cy="156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727448" y="341071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 system integration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325112" y="3813048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alarms, tickets, and movement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360920" y="2487168"/>
            <a:ext cx="30175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360920" y="2487168"/>
            <a:ext cx="301752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507224" y="2660904"/>
            <a:ext cx="347472" cy="34747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507224" y="2737348"/>
            <a:ext cx="347472" cy="156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927848" y="265176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planning dashboards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525512" y="3054096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view for operations leaders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8549640" y="4526280"/>
            <a:ext cx="2560320" cy="1234440"/>
          </a:xfrm>
          <a:prstGeom prst="roundRect">
            <a:avLst>
              <a:gd name="adj" fmla="val 5926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887968" y="4736592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impact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732520" y="5074920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insight to semi-autonomous operations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548640" y="6400800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Movement Analysis &amp; Prediction Platform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11475720" y="6199632"/>
            <a:ext cx="411480" cy="4114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1475720" y="6272784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Builder.io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Movement Analysis &amp; Prediction Platform</dc:title>
  <dc:subject>AI Movement Analysis &amp; Prediction Platform</dc:subject>
  <dc:creator>Builder.io</dc:creator>
  <cp:lastModifiedBy>Builder.io</cp:lastModifiedBy>
  <cp:revision>1</cp:revision>
  <dcterms:created xsi:type="dcterms:W3CDTF">2026-03-25T08:35:26Z</dcterms:created>
  <dcterms:modified xsi:type="dcterms:W3CDTF">2026-03-25T08:35:26Z</dcterms:modified>
</cp:coreProperties>
</file>